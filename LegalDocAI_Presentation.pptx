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470" r:id="rId3"/>
    <p:sldId id="2478" r:id="rId4"/>
    <p:sldId id="2471" r:id="rId5"/>
    <p:sldId id="2477" r:id="rId6"/>
    <p:sldId id="2476" r:id="rId7"/>
    <p:sldId id="2492" r:id="rId21"/>
    <p:sldId id="2479" r:id="rId8"/>
    <p:sldId id="2472" r:id="rId9"/>
    <p:sldId id="2482" r:id="rId10"/>
    <p:sldId id="2487" r:id="rId11"/>
    <p:sldId id="2493" r:id="rId22"/>
    <p:sldId id="2491" r:id="rId12"/>
    <p:sldId id="2473" r:id="rId13"/>
    <p:sldId id="2475" r:id="rId14"/>
    <p:sldId id="28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73A30-4E8D-4F5A-A660-0CF9FA0EA0CF}" type="datetimeFigureOut">
              <a:rPr lang="en-IN" smtClean="0"/>
              <a:t>06-05-2026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23E4C-C78F-4806-9F29-9550DE44BB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1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C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object 7"/>
          <p:cNvSpPr txBox="1"/>
          <p:nvPr userDrawn="1"/>
        </p:nvSpPr>
        <p:spPr>
          <a:xfrm>
            <a:off x="8373035" y="252217"/>
            <a:ext cx="3498933" cy="377108"/>
          </a:xfrm>
          <a:prstGeom prst="rect">
            <a:avLst/>
          </a:prstGeom>
        </p:spPr>
        <p:txBody>
          <a:bodyPr wrap="square" lIns="0" tIns="7701" rIns="0" bIns="0">
            <a:spAutoFit/>
          </a:bodyPr>
          <a:lstStyle/>
          <a:p>
            <a:pPr marL="7701" algn="ctr">
              <a:spcBef>
                <a:spcPts val="61"/>
              </a:spcBef>
              <a:defRPr/>
            </a:pP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Go, change </a:t>
            </a:r>
            <a:r>
              <a:rPr sz="2400" b="1" i="1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the</a:t>
            </a:r>
            <a:r>
              <a:rPr sz="2400" b="1" i="1" spc="-49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 </a:t>
            </a:r>
            <a:r>
              <a:rPr sz="2400" b="1" i="1" spc="-3" dirty="0">
                <a:solidFill>
                  <a:srgbClr val="422C75"/>
                </a:solidFill>
                <a:latin typeface="Bookman Old Style" panose="02050604050505020204" pitchFamily="18" charset="0"/>
                <a:ea typeface="ＭＳ Ｐゴシック" charset="0"/>
                <a:cs typeface="Playfair Display"/>
              </a:rPr>
              <a:t>world</a:t>
            </a:r>
            <a:endParaRPr sz="2400" b="1" dirty="0">
              <a:latin typeface="Bookman Old Style" panose="02050604050505020204" pitchFamily="18" charset="0"/>
              <a:ea typeface="ＭＳ Ｐゴシック" charset="0"/>
              <a:cs typeface="Playfair Display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66" y="93350"/>
            <a:ext cx="3179402" cy="1365315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9531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375" y="60480"/>
            <a:ext cx="8551282" cy="638693"/>
          </a:xfr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>
            <a:noAutofit/>
          </a:bodyPr>
          <a:lstStyle>
            <a:lvl1pPr algn="ctr">
              <a:defRPr sz="3600" b="1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4812" y="797859"/>
            <a:ext cx="11842376" cy="5379104"/>
          </a:xfrm>
          <a:ln>
            <a:noFill/>
          </a:ln>
        </p:spPr>
        <p:txBody>
          <a:bodyPr/>
          <a:lstStyle>
            <a:lvl1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>
              <a:defRPr>
                <a:latin typeface="Bookman Old Style" panose="02050604050505020204" pitchFamily="18" charset="0"/>
              </a:defRPr>
            </a:lvl2pPr>
            <a:lvl3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3pPr>
            <a:lvl4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4pPr>
            <a:lvl5pPr>
              <a:defRPr>
                <a:solidFill>
                  <a:srgbClr val="002060"/>
                </a:solidFill>
                <a:latin typeface="Bookman Old Style" panose="0205060405050502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2" name="Rounded Rectangle 11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3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88" y="111509"/>
            <a:ext cx="1180563" cy="506963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Department of AIML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364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941" y="842775"/>
            <a:ext cx="5750859" cy="53341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42775"/>
            <a:ext cx="5795682" cy="53341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68941" y="6356349"/>
            <a:ext cx="2743200" cy="365125"/>
          </a:xfrm>
        </p:spPr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224682" y="6356349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174376" y="24695"/>
            <a:ext cx="8551282" cy="6386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rgbClr val="C0000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IN" dirty="0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3109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>
                <a:solidFill>
                  <a:srgbClr val="C0000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Bookman Old Style" panose="020506040505050202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3" name="Rounded Rectangle 12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4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751526" cy="779316"/>
          </a:xfrm>
          <a:prstGeom prst="rect">
            <a:avLst/>
          </a:prstGeom>
        </p:spPr>
      </p:pic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4077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5" name="Group 14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6" name="Rounded Rectangle 15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7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584100" cy="779316"/>
          </a:xfrm>
          <a:prstGeom prst="rect">
            <a:avLst/>
          </a:prstGeom>
        </p:spPr>
      </p:pic>
      <p:sp>
        <p:nvSpPr>
          <p:cNvPr id="1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387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1" name="Rounded Rectangle 10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2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58343" cy="779316"/>
          </a:xfrm>
          <a:prstGeom prst="rect">
            <a:avLst/>
          </a:prstGeom>
        </p:spPr>
      </p:pic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9505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856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6" name="Group 5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7" name="Rounded Rectangle 6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8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906072" cy="779316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756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-35003" y="0"/>
            <a:ext cx="12191144" cy="6858000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solidFill>
              <a:srgbClr val="005893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IN" sz="1092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9842217" y="17837"/>
            <a:ext cx="2313924" cy="600635"/>
            <a:chOff x="9682912" y="8965"/>
            <a:chExt cx="2402541" cy="600635"/>
          </a:xfrm>
        </p:grpSpPr>
        <p:sp>
          <p:nvSpPr>
            <p:cNvPr id="14" name="Rounded Rectangle 13"/>
            <p:cNvSpPr/>
            <p:nvPr userDrawn="1"/>
          </p:nvSpPr>
          <p:spPr>
            <a:xfrm>
              <a:off x="9682912" y="8965"/>
              <a:ext cx="2402541" cy="600635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 dirty="0">
                <a:latin typeface="+mj-lt"/>
              </a:endParaRPr>
            </a:p>
          </p:txBody>
        </p:sp>
        <p:sp>
          <p:nvSpPr>
            <p:cNvPr id="15" name="object 7"/>
            <p:cNvSpPr txBox="1"/>
            <p:nvPr userDrawn="1"/>
          </p:nvSpPr>
          <p:spPr>
            <a:xfrm>
              <a:off x="9803934" y="193190"/>
              <a:ext cx="2160495" cy="223220"/>
            </a:xfrm>
            <a:prstGeom prst="rect">
              <a:avLst/>
            </a:prstGeom>
          </p:spPr>
          <p:txBody>
            <a:bodyPr wrap="square" lIns="0" tIns="7701" rIns="0" bIns="0">
              <a:spAutoFit/>
            </a:bodyPr>
            <a:lstStyle/>
            <a:p>
              <a:pPr marL="7701" algn="ctr">
                <a:spcBef>
                  <a:spcPts val="61"/>
                </a:spcBef>
                <a:defRPr/>
              </a:pP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Go, change </a:t>
              </a:r>
              <a:r>
                <a:rPr sz="1400" b="1" i="1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the</a:t>
              </a:r>
              <a:r>
                <a:rPr sz="1400" b="1" i="1" spc="-49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 </a:t>
              </a:r>
              <a:r>
                <a:rPr sz="1400" b="1" i="1" spc="-3" dirty="0">
                  <a:solidFill>
                    <a:srgbClr val="422C75"/>
                  </a:solidFill>
                  <a:latin typeface="Bookman Old Style" panose="02050604050505020204" pitchFamily="18" charset="0"/>
                  <a:ea typeface="ＭＳ Ｐゴシック" charset="0"/>
                  <a:cs typeface="Playfair Display"/>
                </a:rPr>
                <a:t>world</a:t>
              </a:r>
              <a:endParaRPr sz="1400" b="1" dirty="0">
                <a:latin typeface="Bookman Old Style" panose="02050604050505020204" pitchFamily="18" charset="0"/>
                <a:ea typeface="ＭＳ Ｐゴシック" charset="0"/>
                <a:cs typeface="Playfair Display"/>
              </a:endParaRPr>
            </a:p>
          </p:txBody>
        </p:sp>
      </p:grp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609858" cy="779316"/>
          </a:xfrm>
          <a:prstGeom prst="rect">
            <a:avLst/>
          </a:prstGeom>
        </p:spPr>
      </p:pic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6681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Department of AIML - Summer Internship -II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9" name="Footer Placeholder 4"/>
          <p:cNvSpPr txBox="1">
            <a:spLocks/>
          </p:cNvSpPr>
          <p:nvPr userDrawn="1"/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1507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6580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IN"/>
              <a:t>1st April 2024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29507" y="6356350"/>
            <a:ext cx="4533900" cy="365125"/>
          </a:xfrm>
          <a:prstGeom prst="rect">
            <a:avLst/>
          </a:prstGeom>
          <a:solidFill>
            <a:schemeClr val="accent2"/>
          </a:solidFill>
        </p:spPr>
        <p:txBody>
          <a:bodyPr/>
          <a:lstStyle/>
          <a:p>
            <a:r>
              <a:rPr lang="en-US" dirty="0"/>
              <a:t>Department of AIML - Summer Internship 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174376" cy="779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03081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1st April 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15CD2-76D6-4EFE-91D9-7087332E33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659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flowchart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0258" y="2290812"/>
            <a:ext cx="11858324" cy="1744579"/>
          </a:xfrm>
        </p:spPr>
        <p:txBody>
          <a:bodyPr>
            <a:noAutofit/>
          </a:bodyPr>
          <a:lstStyle/>
          <a:p>
            <a:r>
              <a:rPr lang="en-IN" sz="2800" b="1" dirty="0"/>
              <a:t>LegalDoc AI: Offline Legal Assistant</a:t>
            </a:r>
            <a:br>
              <a:rPr lang="en-IN" sz="2800" b="1" dirty="0"/>
            </a:br>
            <a:br>
              <a:rPr lang="en-IN" sz="2800" b="1" dirty="0"/>
            </a:br>
            <a:r>
              <a:rPr lang="en-IN" sz="3600" b="1" dirty="0"/>
              <a:t>Course: Artificial Intelligence and Machine Learning</a:t>
            </a:r>
            <a:br>
              <a:rPr lang="en-IN" sz="3600" b="1" dirty="0"/>
            </a:br>
            <a:br>
              <a:rPr lang="en-IN" sz="3600" b="1" dirty="0"/>
            </a:br>
            <a:r>
              <a:rPr lang="en-IN" sz="3600" b="1" dirty="0"/>
              <a:t>Course code: AI244AI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82CDC3-BC07-D203-8C16-0820BCEBBBFF}"/>
              </a:ext>
            </a:extLst>
          </p:cNvPr>
          <p:cNvSpPr txBox="1">
            <a:spLocks/>
          </p:cNvSpPr>
          <p:nvPr/>
        </p:nvSpPr>
        <p:spPr>
          <a:xfrm>
            <a:off x="5477796" y="5272239"/>
            <a:ext cx="6284276" cy="122160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Presented by</a:t>
            </a:r>
          </a:p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Students Names</a:t>
            </a:r>
          </a:p>
          <a:p>
            <a:r>
              <a:rPr lang="en-IN" sz="2800" b="1" dirty="0">
                <a:solidFill>
                  <a:schemeClr val="accent6">
                    <a:lumMod val="75000"/>
                  </a:schemeClr>
                </a:solidFill>
              </a:rPr>
              <a:t>And USN</a:t>
            </a:r>
            <a:endParaRPr lang="en-IN" sz="14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B05F0D8-F7C4-B4FA-4414-6A776928DB8F}"/>
              </a:ext>
            </a:extLst>
          </p:cNvPr>
          <p:cNvSpPr txBox="1">
            <a:spLocks/>
          </p:cNvSpPr>
          <p:nvPr/>
        </p:nvSpPr>
        <p:spPr>
          <a:xfrm>
            <a:off x="4062882" y="5272239"/>
            <a:ext cx="6284276" cy="13643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002060"/>
                </a:solidFill>
                <a:latin typeface="Bookman Old Style" panose="02050604050505020204" pitchFamily="18" charset="0"/>
                <a:ea typeface="+mj-ea"/>
                <a:cs typeface="+mj-cs"/>
              </a:defRPr>
            </a:lvl1pPr>
          </a:lstStyle>
          <a:p>
            <a:endParaRPr lang="en-IN"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94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12025-F6C7-85F3-888D-F0DF61F89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60480"/>
            <a:ext cx="8041236" cy="638693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E32DC1-C5CC-603E-64F0-7E310AA6DB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4876" y="1200946"/>
            <a:ext cx="9985234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Project: LegalDoc AI – an app that reads legal documents and answers questions about them, running fully on your own computer.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Legal documents (contracts, NDAs, court judgments) are long and hard to read.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AI tools are cloud-based, costly, and send private documents to outside servers.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Our tool is free, private, and works offline – useful to students, small businesses, and individuals.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16 (access to justice) by making legal documents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2101755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23D66-3A57-1442-D05F-95FB3B818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D115-0869-E110-D069-07442388F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4421" y="60480"/>
            <a:ext cx="8041236" cy="638693"/>
          </a:xfrm>
        </p:spPr>
        <p:txBody>
          <a:bodyPr/>
          <a:lstStyle/>
          <a:p>
            <a:r>
              <a:rPr lang="en-US" dirty="0"/>
              <a:t>Application Domain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EC73CE-5814-AAFD-816E-20C45B87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448342-C54B-0F49-141F-B2E01307C72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A29EEE-8399-A9F1-0BB3-39B19A0D64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26755" y="781959"/>
            <a:ext cx="9705679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Legal Technology (LegalTech) and Natural Language Processing.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users: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 students studying real cases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Solo lawyers and small businesses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Anyone signing a contract, NDA, or lease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use: read, question, summarize, and audit any legal document privately.</a:t>
            </a:r>
          </a:p>
        </p:txBody>
      </p:sp>
    </p:spTree>
    <p:extLst>
      <p:ext uri="{BB962C8B-B14F-4D97-AF65-F5344CB8AC3E}">
        <p14:creationId xmlns:p14="http://schemas.microsoft.com/office/powerpoint/2010/main" val="26263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A7A74-5942-E96A-E2B4-48C9B8AA5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39B5D-83F3-7296-CD28-DAB420CED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US" dirty="0"/>
              <a:t>Literature Review / Related Work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F0180-02FD-F7DD-5FFB-5C4B90B06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81B063-5A6D-2F82-5610-9B65831E127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0F563B9-F8B4-5C12-D9DD-2EB8AACB1E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68444" y="1024391"/>
            <a:ext cx="8646765" cy="45120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Lewis et al. (2020) – Retrieval-Augmented Generation (RAG): grounds AI answers in retrieved text to reduce made-up answers.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Robertson &amp; Zaragoza (2009) – BM25: a keyword search method, strong for exact terms.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Wang et al. (2020) – MiniLM: a small, fast model to turn text into searchable vectors.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Johnson et al. (2021) – FAISS: a fast library for searching by meaning.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Hendrycks et al. (2021) – CUAD: 510 real contracts labelled by legal experts; used as our benchmark.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Gap: most tools use only one search method and run on the cloud. We combine two search methods and run offline.</a:t>
            </a:r>
          </a:p>
        </p:txBody>
      </p:sp>
    </p:spTree>
    <p:extLst>
      <p:ext uri="{BB962C8B-B14F-4D97-AF65-F5344CB8AC3E}">
        <p14:creationId xmlns:p14="http://schemas.microsoft.com/office/powerpoint/2010/main" val="3885275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2832-D088-392C-9F33-9639944F3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65354-8B12-9446-0233-5A7890AFA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F5B7B4-21FD-D23F-A202-129F19613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2A351-5332-F9C2-4BD6-1B0AD44FE8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A5E3CB-1A7B-4D99-3A37-392FE3ADE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039" y="897749"/>
            <a:ext cx="9599213" cy="53306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can a person quickly and privately understand a long legal document without a lawyer?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reading is slow and easy to get wrong.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AI tools risk privacy, cost money, and hide how they find answers.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 keyword search misses meaning; pure meaning search misses exact legal terms.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Goal: a private, offline, low-cost tool that answers questions with evidence you can check.</a:t>
            </a:r>
          </a:p>
        </p:txBody>
      </p:sp>
    </p:spTree>
    <p:extLst>
      <p:ext uri="{BB962C8B-B14F-4D97-AF65-F5344CB8AC3E}">
        <p14:creationId xmlns:p14="http://schemas.microsoft.com/office/powerpoint/2010/main" val="2402028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26A4-A60D-628D-E06D-19119E5D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9617-8FC8-CB07-4676-040AC604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US" dirty="0"/>
              <a:t>Methodology / Proposed System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B12B-C45A-6AC4-E0D8-C4ECBEC9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50A6-1511-E685-FBE0-CAA1B7876B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7CB2D8-3D89-4B61-78FA-A81943E59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7072" y="5736917"/>
            <a:ext cx="1174731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n-US" sz="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ED3CF7-009E-5035-E536-D363AEDE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072" y="900000"/>
            <a:ext cx="10074206" cy="5600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Approach: Hybrid Retrieval-Augmented Generation (RAG) running fully offline.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Data: user's PDF/DOCX/TXT documents; benchmark uses the CUAD contract dataset.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Preprocessing: text is extracted and split into 512-word overlapping chunks.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Search: FAISS (by meaning) + BM25 (by exact words), blended by a tunable weight.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Model: Llama 3.2 (local, free) or GPT-4o-mini (optional cloud).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Evaluation: indexing time, search speed, and answer correctness (see next slides).</a:t>
            </a:r>
          </a:p>
        </p:txBody>
      </p:sp>
    </p:spTree>
    <p:extLst>
      <p:ext uri="{BB962C8B-B14F-4D97-AF65-F5344CB8AC3E}">
        <p14:creationId xmlns:p14="http://schemas.microsoft.com/office/powerpoint/2010/main" val="405368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75348-0BAA-038E-8EEC-A0380057B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D88C9-0195-D90F-117E-668A8139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US" dirty="0"/>
              <a:t>Hardware &amp; Software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5398F4-B7FE-696A-E0BB-1C1DF7E6C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BFE11-3619-4ECF-AF87-F2B3FCFEFF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0AADDC6-B50D-26EB-0B51-BB504CB61D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63039" y="1010922"/>
            <a:ext cx="8356822" cy="4240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 laptop/desktop CPU (no GPU needed)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 GB RAM, a few GB storage for models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/ Python 3.13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Libraries: fastembed, FAISS, rank-bm25, PyMuPDF, CustomTkinter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Ollama with Llama 3.2 (local, free) or OpenAI GPT-4o-mini (optional)</a:t>
            </a:r>
          </a:p>
        </p:txBody>
      </p:sp>
    </p:spTree>
    <p:extLst>
      <p:ext uri="{BB962C8B-B14F-4D97-AF65-F5344CB8AC3E}">
        <p14:creationId xmlns:p14="http://schemas.microsoft.com/office/powerpoint/2010/main" val="167119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50786-F32B-F6B7-2277-C19E9AC7C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55136-2354-7D9B-15E3-78CC57FBF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US" dirty="0"/>
              <a:t>Implementation Overview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058C-D334-1CAD-0C1B-7439CB316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F2F9D-D3F9-47A1-0F55-094C6A5169A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1080514-8989-CFB6-863E-BD16B4643F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00794" y="1256463"/>
            <a:ext cx="7750691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standalone desktop app – no browser, no internet needed.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features in one window: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Preview – view the real document pages and key facts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– chat with the document; answers show sources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– one-click overview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– 10 clauses checked, scored 0–100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Negotiate – practise against an AI opposing lawyer</a:t>
            </a:r>
          </a:p>
        </p:txBody>
      </p:sp>
    </p:spTree>
    <p:extLst>
      <p:ext uri="{BB962C8B-B14F-4D97-AF65-F5344CB8AC3E}">
        <p14:creationId xmlns:p14="http://schemas.microsoft.com/office/powerpoint/2010/main" val="3824076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A533-74B1-EC8E-5E18-B4CAF0DD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045E-708F-02A4-47C2-10EBDC58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US" dirty="0"/>
              <a:t>System Implementation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BC539-B762-61F6-4B7B-0785547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5D78C-CE13-AD0E-1541-F661DEFD0F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2D4F5-45A3-A833-BA53-E2064366DB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8542" y="1111831"/>
            <a:ext cx="9205415" cy="660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 &amp; split: the document text is broken into small overlapping pieces.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searches: one by meaning (FAISS) and one by exact words (BM25), run together.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Combine: both results are blended into one ranked list of the best passages.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 the best passages plus your question go to the AI, which writes a cited answer live.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Cache: once read, a document re-opens in under a second.</a:t>
            </a:r>
          </a:p>
        </p:txBody>
      </p:sp>
    </p:spTree>
    <p:extLst>
      <p:ext uri="{BB962C8B-B14F-4D97-AF65-F5344CB8AC3E}">
        <p14:creationId xmlns:p14="http://schemas.microsoft.com/office/powerpoint/2010/main" val="1315505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80BD1-C8F3-8A66-E6AD-A9C1752FD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057F1-A2E9-A566-C5EC-A601FA949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US" dirty="0"/>
              <a:t>Performance Analysis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8E3B41-E312-E784-5149-7C729F47D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2875C-FB91-46E9-3BB3-B5FBF1CA619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A507A3-1070-5A5F-4498-B631F71977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8541" y="1010457"/>
            <a:ext cx="797294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on three full Supreme Court cases (62 to 237 pages).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First-time indexing: 6.6 s (62 pages) to 26.6 s (237 pages) on a normal CPU.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Re-opening a saved document: about 0.1 second (from cache).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speed: 25 to 36 milliseconds per question.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test questions answered correctly, with sources cited.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model choice (MiniLM) cut indexing time by about 3 times.</a:t>
            </a:r>
          </a:p>
        </p:txBody>
      </p:sp>
    </p:spTree>
    <p:extLst>
      <p:ext uri="{BB962C8B-B14F-4D97-AF65-F5344CB8AC3E}">
        <p14:creationId xmlns:p14="http://schemas.microsoft.com/office/powerpoint/2010/main" val="26016446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70600-E47D-C92D-4BB9-83E16B317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B11A6-E007-9144-F6DB-482E22DA6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US" dirty="0"/>
              <a:t>Applications &amp; Future Work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302219-77D0-7B29-C18F-2C9B11A7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CC8B8-05A5-5FFF-E238-556E722323F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11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F297A4-DCC5-15DC-ECF4-049F1434CE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7072" y="1000000"/>
            <a:ext cx="9985234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Law firms, small businesses, students, compliance teams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Reviewing contracts, NDAs, policies, and judgments privately</a:t>
            </a:r>
          </a:p>
          <a:p>
            <a:pPr>
              <a:buNone/>
            </a:pPr>
            <a:endParaRPr lang="en-US" sz="8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work: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 for Indian legal documents and languages (Hindi, Kannada)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contracts at once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Browser extension for in-page review</a:t>
            </a:r>
          </a:p>
        </p:txBody>
      </p:sp>
    </p:spTree>
    <p:extLst>
      <p:ext uri="{BB962C8B-B14F-4D97-AF65-F5344CB8AC3E}">
        <p14:creationId xmlns:p14="http://schemas.microsoft.com/office/powerpoint/2010/main" val="3659861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06E53-2E59-B850-EDD9-AFA7670DA2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C52FC-AA51-70D3-3AE7-09A076544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926" y="136525"/>
            <a:ext cx="7674560" cy="63869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0D28F-3F7D-C245-CFFB-D4798DD1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F4B192-D808-1A77-C641-60C931CB6F7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12</a:t>
            </a:fld>
            <a:endParaRPr lang="en-IN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651B167-0057-7E0F-CFA6-C8830F1BA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92605" y="1041770"/>
            <a:ext cx="4203395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a working, private, offline tool that reads and answers questions about legal documents.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search (meaning + exact words) gives accurate, checkable answers with sources.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Tested on three real Supreme Court cases (62–237 pages) with correct answers.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Audit is benchmarked against 510 real contracts (CUAD), not just AI opinion.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16 by making legal understanding accessible to everyone.</a:t>
            </a:r>
          </a:p>
        </p:txBody>
      </p:sp>
    </p:spTree>
    <p:extLst>
      <p:ext uri="{BB962C8B-B14F-4D97-AF65-F5344CB8AC3E}">
        <p14:creationId xmlns:p14="http://schemas.microsoft.com/office/powerpoint/2010/main" val="1570223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ED8639-4633-B279-9199-39F71CE64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B4FB-E7FE-6BB2-BE11-30172AE27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1048" y="136525"/>
            <a:ext cx="7780438" cy="638693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6C2407-772D-EB5B-6420-FBAD47A7D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811C1-7535-8E5B-F258-3797B1B675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78AD04E-0E62-26F5-1E3F-C96B685991E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7378" y="1394966"/>
            <a:ext cx="11509809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 Hendrycks et al., “CUAD: An Expert-Annotated NLP Dataset for Legal Contract Review,” NeurIPS, 2021.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 Lewis et al., “Retrieval-Augmented Generation for Knowledge-Intensive NLP Tasks,” NeurIPS, 2020.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Robertson and H. Zaragoza, “The Probabilistic Relevance Framework: BM25 and Beyond,” FnTIR, 2009.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Johnson, M. Douze, H. Jégou, “Billion-Scale Similarity Search with GPUs,” IEEE Trans. Big Data, 2021.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W. Wang et al., “MiniLM: Deep Self-Attention Distillation for Task-Agnostic Compression,” NeurIPS, 2020.</a:t>
            </a:r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Supreme Court of the United States, opinions retrieved from supremecourt.gov.</a:t>
            </a:r>
          </a:p>
        </p:txBody>
      </p:sp>
    </p:spTree>
    <p:extLst>
      <p:ext uri="{BB962C8B-B14F-4D97-AF65-F5344CB8AC3E}">
        <p14:creationId xmlns:p14="http://schemas.microsoft.com/office/powerpoint/2010/main" val="8152468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EA492A7-4D47-42AF-9241-46093DB10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6412" y="2997643"/>
            <a:ext cx="8551282" cy="63869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14</a:t>
            </a:fld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4294967295"/>
          </p:nvPr>
        </p:nvSpPr>
        <p:spPr>
          <a:xfrm>
            <a:off x="174812" y="6347204"/>
            <a:ext cx="2743200" cy="365125"/>
          </a:xfrm>
        </p:spPr>
        <p:txBody>
          <a:bodyPr/>
          <a:lstStyle/>
          <a:p>
            <a:pPr algn="ctr"/>
            <a:r>
              <a:rPr lang="en-IN" dirty="0"/>
              <a:t>14th Feb 2025</a:t>
            </a:r>
          </a:p>
        </p:txBody>
      </p:sp>
    </p:spTree>
    <p:extLst>
      <p:ext uri="{BB962C8B-B14F-4D97-AF65-F5344CB8AC3E}">
        <p14:creationId xmlns:p14="http://schemas.microsoft.com/office/powerpoint/2010/main" val="35105180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D26A4-A60D-628D-E06D-19119E5DE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C9617-8FC8-CB07-4676-040AC6040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39" y="60480"/>
            <a:ext cx="8262617" cy="638693"/>
          </a:xfrm>
        </p:spPr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0B12B-C45A-6AC4-E0D8-C4ECBEC9D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7650A6-1511-E685-FBE0-CAA1B7876BD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7CB2D8-3D89-4B61-78FA-A81943E59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7072" y="5736917"/>
            <a:ext cx="11747313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endParaRPr lang="en-US" sz="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ED3CF7-009E-5035-E536-D363AEDED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7072" y="514507"/>
            <a:ext cx="10074206" cy="7017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normAutofit/>
          </a:bodyPr>
          <a:lstStyle/>
          <a:p>
            <a:pPr>
              <a:buNone/>
            </a:pPr>
            <a:endParaRPr lang="en-US" sz="800" dirty="0"/>
          </a:p>
        </p:txBody>
      </p:sp>
      <p:pic>
        <p:nvPicPr>
          <p:cNvPr id="50" name="flow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9000" y="1450000"/>
            <a:ext cx="7254000" cy="4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802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8A533-74B1-EC8E-5E18-B4CAF0DD6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4045E-708F-02A4-47C2-10EBDC58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542" y="136525"/>
            <a:ext cx="7972943" cy="638693"/>
          </a:xfrm>
        </p:spPr>
        <p:txBody>
          <a:bodyPr/>
          <a:lstStyle/>
          <a:p>
            <a:r>
              <a:rPr lang="en-US" dirty="0"/>
              <a:t>Demo &amp; Sample Questions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BC539-B762-61F6-4B7B-0785547C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AIML 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5D78C-CE13-AD0E-1541-F661DEFD0F7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73988" y="6347204"/>
            <a:ext cx="2743200" cy="365125"/>
          </a:xfrm>
        </p:spPr>
        <p:txBody>
          <a:bodyPr/>
          <a:lstStyle/>
          <a:p>
            <a:fld id="{9BA15CD2-76D6-4EFE-91D9-7087332E3318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2D4F5-45A3-A833-BA53-E2064366DB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8542" y="1111831"/>
            <a:ext cx="9205415" cy="66059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Three real Supreme Court cases were used to test the app. Below is a short summary of each and the exact question typed into the </a:t>
            </a:r>
            <a:r>
              <a:rPr lang="en-US" altLang="en-US" sz="17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</a:t>
            </a:r>
            <a:r>
              <a:rPr lang="en-US" alt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tab.</a:t>
            </a:r>
          </a:p>
          <a:p>
            <a:pPr>
              <a:buNone/>
            </a:pPr>
            <a:endParaRPr lang="en-US" sz="5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Google v. Oracle (62 pages)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 case about copying computer code.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Ask: </a:t>
            </a:r>
            <a:r>
              <a:rPr lang="en-US" alt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“Was Google's copying of the Java API fair use?”</a:t>
            </a:r>
          </a:p>
          <a:p>
            <a:pPr>
              <a:buNone/>
            </a:pPr>
            <a:endParaRPr lang="en-US" sz="4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Dobbs v. Jackson (213 pages)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 case about abortion rights.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Ask: </a:t>
            </a:r>
            <a:r>
              <a:rPr lang="en-US" alt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did the Court hold about Roe v. Wade?”</a:t>
            </a:r>
          </a:p>
          <a:p>
            <a:pPr>
              <a:buNone/>
            </a:pPr>
            <a:endParaRPr lang="en-US" sz="400" dirty="0"/>
          </a:p>
          <a:p>
            <a:pPr marL="285750" lvl="0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SFFA v. Harvard (237 pages) </a:t>
            </a: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a case about race in college admissions.</a:t>
            </a:r>
          </a:p>
          <a:p>
            <a:pPr marL="742950" lvl="1" indent="-274638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Ask: </a:t>
            </a:r>
            <a:r>
              <a:rPr lang="en-US" altLang="en-US" sz="17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“What did the Court decide about race-based admissions?”</a:t>
            </a:r>
          </a:p>
          <a:p>
            <a:pPr>
              <a:buNone/>
            </a:pPr>
            <a:endParaRPr lang="en-US" sz="4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every case the app gave the correct answer and showed the passages it used as </a:t>
            </a:r>
            <a:r>
              <a:rPr lang="en-US" altLang="en-US" sz="16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en-US" altLang="en-US" sz="16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5505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3094</TotalTime>
  <Words>608</Words>
  <Application>Microsoft Office PowerPoint</Application>
  <PresentationFormat>Widescreen</PresentationFormat>
  <Paragraphs>158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Calibri Light</vt:lpstr>
      <vt:lpstr>Times New Roman</vt:lpstr>
      <vt:lpstr>Office Theme</vt:lpstr>
      <vt:lpstr>Title of the Lab-Based Project  Course: Artificial Intelligence and Machine Learning  Course code: AI244AI</vt:lpstr>
      <vt:lpstr>Introduction</vt:lpstr>
      <vt:lpstr>Application Domain</vt:lpstr>
      <vt:lpstr>Literature Review / Related Work</vt:lpstr>
      <vt:lpstr>Problem Statement</vt:lpstr>
      <vt:lpstr>Methodology / Proposed System</vt:lpstr>
      <vt:lpstr>Hardware &amp; Software Requirements</vt:lpstr>
      <vt:lpstr>Implementation Overview</vt:lpstr>
      <vt:lpstr>System Implementation</vt:lpstr>
      <vt:lpstr>Performance Analysis</vt:lpstr>
      <vt:lpstr>Applications &amp; Future Enhancements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Viswavardhan Reddy Karna</dc:creator>
  <cp:lastModifiedBy>manasa m</cp:lastModifiedBy>
  <cp:revision>125</cp:revision>
  <dcterms:created xsi:type="dcterms:W3CDTF">2021-06-02T13:10:21Z</dcterms:created>
  <dcterms:modified xsi:type="dcterms:W3CDTF">2026-05-06T17:19:17Z</dcterms:modified>
</cp:coreProperties>
</file>