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470" r:id="rId3"/>
    <p:sldId id="2471" r:id="rId4"/>
    <p:sldId id="2477" r:id="rId5"/>
    <p:sldId id="2476" r:id="rId6"/>
    <p:sldId id="2472" r:id="rId7"/>
    <p:sldId id="2482" r:id="rId8"/>
    <p:sldId id="2491" r:id="rId9"/>
    <p:sldId id="2492" r:id="rId18"/>
    <p:sldId id="2493" r:id="rId19"/>
    <p:sldId id="2494" r:id="rId20"/>
    <p:sldId id="2495" r:id="rId21"/>
    <p:sldId id="2473" r:id="rId10"/>
    <p:sldId id="2475" r:id="rId11"/>
    <p:sldId id="28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73A30-4E8D-4F5A-A660-0CF9FA0EA0C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23E4C-C78F-4806-9F29-9550DE44B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01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531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object 7"/>
          <p:cNvSpPr txBox="1"/>
          <p:nvPr userDrawn="1"/>
        </p:nvSpPr>
        <p:spPr>
          <a:xfrm>
            <a:off x="8373035" y="252217"/>
            <a:ext cx="3498933" cy="377108"/>
          </a:xfrm>
          <a:prstGeom prst="rect">
            <a:avLst/>
          </a:prstGeom>
        </p:spPr>
        <p:txBody>
          <a:bodyPr wrap="square" lIns="0" tIns="7701" rIns="0" bIns="0">
            <a:spAutoFit/>
          </a:bodyPr>
          <a:lstStyle/>
          <a:p>
            <a:pPr marL="7701" algn="ctr">
              <a:spcBef>
                <a:spcPts val="61"/>
              </a:spcBef>
              <a:defRPr/>
            </a:pPr>
            <a:r>
              <a:rPr sz="2400" b="1" i="1" spc="-3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 xml:space="preserve">Go, change </a:t>
            </a:r>
            <a:r>
              <a:rPr sz="2400" b="1" i="1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the</a:t>
            </a:r>
            <a:r>
              <a:rPr sz="2400" b="1" i="1" spc="-49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 xml:space="preserve"> </a:t>
            </a:r>
            <a:r>
              <a:rPr sz="2400" b="1" i="1" spc="-3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world</a:t>
            </a:r>
            <a:endParaRPr sz="2400" b="1" dirty="0">
              <a:latin typeface="Bookman Old Style" panose="02050604050505020204" pitchFamily="18" charset="0"/>
              <a:ea typeface="ＭＳ Ｐゴシック" charset="0"/>
              <a:cs typeface="Playfair Display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6" y="93350"/>
            <a:ext cx="3179402" cy="1365315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53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375" y="60480"/>
            <a:ext cx="8551282" cy="638693"/>
          </a:xfr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>
            <a:noAutofit/>
          </a:bodyPr>
          <a:lstStyle>
            <a:lvl1pPr algn="ctr">
              <a:defRPr sz="36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12" y="797859"/>
            <a:ext cx="11842376" cy="5379104"/>
          </a:xfrm>
          <a:ln>
            <a:noFill/>
          </a:ln>
        </p:spPr>
        <p:txBody>
          <a:bodyPr/>
          <a:lstStyle>
            <a:lvl1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  <a:lvl2pPr>
              <a:defRPr>
                <a:latin typeface="Bookman Old Style" panose="02050604050505020204" pitchFamily="18" charset="0"/>
              </a:defRPr>
            </a:lvl2pPr>
            <a:lvl3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3pPr>
            <a:lvl4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4pPr>
            <a:lvl5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3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88" y="111509"/>
            <a:ext cx="1180563" cy="506963"/>
          </a:xfrm>
          <a:prstGeom prst="rect">
            <a:avLst/>
          </a:prstGeom>
        </p:spPr>
      </p:pic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 xml:space="preserve">Department of AIML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364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941" y="842775"/>
            <a:ext cx="5750859" cy="53341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42775"/>
            <a:ext cx="5795682" cy="53341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8941" y="6356349"/>
            <a:ext cx="2743200" cy="365125"/>
          </a:xfrm>
        </p:spPr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24682" y="6356349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174376" y="24695"/>
            <a:ext cx="8551282" cy="6386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C00000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4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310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35003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4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751526" cy="779316"/>
          </a:xfrm>
          <a:prstGeom prst="rect">
            <a:avLst/>
          </a:prstGeom>
        </p:spPr>
      </p:pic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07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35003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6" name="Rounded Rectangle 15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7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584100" cy="779316"/>
          </a:xfrm>
          <a:prstGeom prst="rect">
            <a:avLst/>
          </a:prstGeom>
        </p:spPr>
      </p:pic>
      <p:sp>
        <p:nvSpPr>
          <p:cNvPr id="1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38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2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58343" cy="779316"/>
          </a:xfrm>
          <a:prstGeom prst="rect">
            <a:avLst/>
          </a:prstGeom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50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856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7" name="Rounded Rectangle 6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8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906072" cy="779316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75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35003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4" name="Rounded Rectangle 13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5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 xml:space="preserve"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609858" cy="779316"/>
          </a:xfrm>
          <a:prstGeom prst="rect">
            <a:avLst/>
          </a:prstGeom>
        </p:spPr>
      </p:pic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68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Department of AIML - Summer Internship -II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07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58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30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5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258" y="2290812"/>
            <a:ext cx="11858324" cy="1744579"/>
          </a:xfrm>
        </p:spPr>
        <p:txBody>
          <a:bodyPr>
            <a:noAutofit/>
          </a:bodyPr>
          <a:lstStyle/>
          <a:p>
            <a:r>
              <a:rPr lang="en-IN" sz="2400" b="1" dirty="0"/>
              <a:t>AI-Powered Legal Document Summarizer &amp; Compliance Checker</a:t>
            </a:r>
            <a:br>
              <a:rPr lang="en-IN" sz="2400" b="1" dirty="0"/>
            </a:br>
            <a:br>
              <a:rPr lang="en-IN" sz="2400" b="1" dirty="0"/>
            </a:br>
            <a:r>
              <a:rPr lang="en-IN" sz="2400" b="1" dirty="0"/>
              <a:t>Course: Artificial Intelligence and Machine Learning</a:t>
            </a:r>
            <a:br>
              <a:rPr lang="en-IN" sz="2400" b="1" dirty="0"/>
            </a:br>
            <a:br>
              <a:rPr lang="en-IN" sz="2400" b="1" dirty="0"/>
            </a:br>
            <a:r>
              <a:rPr lang="en-IN" sz="2400" b="1" dirty="0"/>
              <a:t>Course code: AI244AI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382CDC3-BC07-D203-8C16-0820BCEBBBFF}"/>
              </a:ext>
            </a:extLst>
          </p:cNvPr>
          <p:cNvSpPr txBox="1">
            <a:spLocks/>
          </p:cNvSpPr>
          <p:nvPr/>
        </p:nvSpPr>
        <p:spPr>
          <a:xfrm>
            <a:off x="5477796" y="5272239"/>
            <a:ext cx="6284276" cy="12216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2060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Presented by</a:t>
            </a:r>
          </a:p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Adithya Mahadev 1RV24CI010</a:t>
            </a:r>
          </a:p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 xml:space="preserve">Josh 1RV24CI0 </a:t>
            </a:r>
          </a:p>
          <a:p>
            <a:endParaRPr lang="en-IN" sz="1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05F0D8-F7C4-B4FA-4414-6A776928DB8F}"/>
              </a:ext>
            </a:extLst>
          </p:cNvPr>
          <p:cNvSpPr txBox="1">
            <a:spLocks/>
          </p:cNvSpPr>
          <p:nvPr/>
        </p:nvSpPr>
        <p:spPr>
          <a:xfrm>
            <a:off x="4062882" y="5272239"/>
            <a:ext cx="6284276" cy="13643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2060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endParaRPr lang="en-IN" sz="11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9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2025-F6C7-85F3-888D-F0DF61F8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421" y="60480"/>
            <a:ext cx="8041236" cy="638693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E32DC1-C5CC-603E-64F0-7E310AA6DB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1443" y="2044229"/>
            <a:ext cx="1010911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Legal Document Summarizer &amp; Compliance Checker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RAG-based AI agent for legal document analysis using LLM + vector retrieval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contract review is slow and error-prone — AI automates clause detection and compliance flagging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SDG 16: Peace, Justice &amp; Strong Institutions — democratises legal access for individuals and SMEs</a:t>
            </a:r>
          </a:p>
        </p:txBody>
      </p:sp>
    </p:spTree>
    <p:extLst>
      <p:ext uri="{BB962C8B-B14F-4D97-AF65-F5344CB8AC3E}">
        <p14:creationId xmlns:p14="http://schemas.microsoft.com/office/powerpoint/2010/main" val="210175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A7A74-5942-E96A-E2B4-48C9B8AA5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9B5D-83F3-7296-CD28-DAB420CE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IN" dirty="0"/>
              <a:t>Literature Review / Related Work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F0180-02FD-F7DD-5FFB-5C4B90B0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1B063-5A6D-2F82-5610-9B65831E12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F563B9-F8B4-5C12-D9DD-2EB8AACB1E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8444" y="957192"/>
            <a:ext cx="9603020" cy="46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  <a:buClrTx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key related works on RAG, LLM-based NLP, and legal document processing:</a:t>
            </a:r>
          </a:p>
          <a:p>
            <a:pPr algn="just">
              <a:lnSpc>
                <a:spcPct val="150000"/>
              </a:lnSpc>
              <a:buClrTx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Lewis et al. (2020) — RAG for NLP Tasks, NeurIPS. Introduced RAG; no legal-domain tuning</a:t>
            </a:r>
          </a:p>
          <a:p>
            <a:pPr lvl="1" algn="just">
              <a:lnSpc>
                <a:spcPct val="150000"/>
              </a:lnSpc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Chalkidis et al. (2020) — LEGAL-BERT, EMNLP. Legal embeddings; no retrieval component</a:t>
            </a:r>
          </a:p>
          <a:p>
            <a:pPr lvl="1" algn="just">
              <a:lnSpc>
                <a:spcPct val="150000"/>
              </a:lnSpc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Zhong et al. (2020) — JEC-QA, AAAI. Legal QA via KG; rule-based, no generation</a:t>
            </a:r>
          </a:p>
          <a:p>
            <a:pPr lvl="2" algn="just">
              <a:lnSpc>
                <a:spcPct val="150000"/>
              </a:lnSpc>
              <a:buClrTx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Hendrycks et al. (2021) — CUAD, NeurIPS. Contract clause benchmark; no summarisation</a:t>
            </a:r>
          </a:p>
          <a:p>
            <a:pPr lvl="2" algn="just">
              <a:lnSpc>
                <a:spcPct val="150000"/>
              </a:lnSpc>
              <a:buClrTx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Koreeda &amp; Manning (2021) — ContractNLI, EMNLP. NLI for contracts; binary only, no explanations</a:t>
            </a:r>
          </a:p>
          <a:p>
            <a:pPr lvl="2" algn="just">
              <a:lnSpc>
                <a:spcPct val="150000"/>
              </a:lnSpc>
              <a:buClrTx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No existing work combines RAG + LLM reasoning + compliance scoring in one pipeline</a:t>
            </a:r>
          </a:p>
        </p:txBody>
      </p:sp>
    </p:spTree>
    <p:extLst>
      <p:ext uri="{BB962C8B-B14F-4D97-AF65-F5344CB8AC3E}">
        <p14:creationId xmlns:p14="http://schemas.microsoft.com/office/powerpoint/2010/main" val="388527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2832-D088-392C-9F33-9639944F3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5354-8B12-9446-0233-5A7890AF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5B7B4-21FD-D23F-A202-129F1961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2A351-5332-F9C2-4BD6-1B0AD44FE8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A5E3CB-1A7B-4D99-3A37-392FE3ADEB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1135" y="1152252"/>
            <a:ext cx="10429730" cy="4230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of legal documents (contracts, NDAs, policies) is slow, costly, and error-prone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clauses (non-compete, IP, liability) can lead to severe legal and financial consequences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accessible tool exists to auto-parse legal docs, answer compliance queries, and summarise in real time</a:t>
            </a:r>
          </a:p>
          <a:p>
            <a:pPr algn="just">
              <a:lnSpc>
                <a:spcPct val="150000"/>
              </a:lnSpc>
              <a:buClrTx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LegalTech — contracts, NDAs, regulatory policy documents</a:t>
            </a:r>
          </a:p>
          <a:p>
            <a:pPr lvl="1" algn="just">
              <a:lnSpc>
                <a:spcPct val="150000"/>
              </a:lnSpc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Users: Law students, freelancers, SMEs, compliance officers</a:t>
            </a:r>
          </a:p>
          <a:p>
            <a:pPr lvl="1" algn="just">
              <a:lnSpc>
                <a:spcPct val="150000"/>
              </a:lnSpc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Upload a 40-page vendor contract → system flags missing IP clause + summarises obligations</a:t>
            </a:r>
          </a:p>
          <a:p>
            <a:pPr lvl="1" algn="just">
              <a:lnSpc>
                <a:spcPct val="150000"/>
              </a:lnSpc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Measurable impact: reduce review time from hours to &lt;2 min; target 80%+ compliance flag accuracy</a:t>
            </a:r>
          </a:p>
        </p:txBody>
      </p:sp>
    </p:spTree>
    <p:extLst>
      <p:ext uri="{BB962C8B-B14F-4D97-AF65-F5344CB8AC3E}">
        <p14:creationId xmlns:p14="http://schemas.microsoft.com/office/powerpoint/2010/main" val="240202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26A4-A60D-628D-E06D-19119E5D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9617-8FC8-CB07-4676-040AC604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IN" dirty="0"/>
              <a:t>Methodology / Proposed System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0B12B-C45A-6AC4-E0D8-C4ECBEC9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650A6-1511-E685-FBE0-CAA1B7876B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ED3CF7-009E-5035-E536-D363AEDED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57" y="1596687"/>
            <a:ext cx="10052231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PDF/DOCX → Chunker → Embeddings → ChromaDB → Retriever → LLM → Response + Flag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 CUAD dataset (510 contracts), Indian Kanoon API, public-domain NDAs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512-token sliding window, regex cleaning, all-MiniLM-L6-v2 embeddings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 ChromaDB vector store + Gemini 1.5 Flash LLM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 No fine-tuning; RAG uses in-context reasoning at inference time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Evaluation: Recall@5, MRR | ROUGE-L, BERTScore | human-eval compliance accuracy</a:t>
            </a:r>
          </a:p>
        </p:txBody>
      </p:sp>
      <p:sp>
        <p:nvSpPr>
          <p:cNvPr id="10" name="Content Override"/>
          <p:cNvSpPr>
            <a:spLocks noGrp="1"/>
          </p:cNvSpPr>
          <p:nvPr>
            <p:ph idx="1"/>
          </p:nvPr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8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0786-F32B-F6B7-2277-C19E9AC7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5136-2354-7D9B-15E3-78CC57FB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IN" dirty="0"/>
              <a:t>Implementation Overview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058C-D334-1CAD-0C1B-7439CB31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F2F9D-D3F9-47A1-0F55-094C6A5169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080514-8989-CFB6-863E-BD16B4643F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7569" y="2095362"/>
            <a:ext cx="11046889" cy="184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End-to-end RAG pipeline for legal document Q&amp;A and compliance flagging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System: PDF/DOCX ingestion → chunking → embedding → ChromaDB → LLM Q&amp;A → Streamlit UI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16: Peace, Justice &amp; Strong Institutions — democratises legal knowledge for SMEs</a:t>
            </a:r>
          </a:p>
        </p:txBody>
      </p:sp>
    </p:spTree>
    <p:extLst>
      <p:ext uri="{BB962C8B-B14F-4D97-AF65-F5344CB8AC3E}">
        <p14:creationId xmlns:p14="http://schemas.microsoft.com/office/powerpoint/2010/main" val="382407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8A533-74B1-EC8E-5E18-B4CAF0DD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045E-708F-02A4-47C2-10EBDC58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IN" dirty="0"/>
              <a:t>System Implementation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BC539-B762-61F6-4B7B-0785547C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5D78C-CE13-AD0E-1541-F661DEFD0F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02D4F5-45A3-A833-BA53-E2064366DB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0676" y="1092087"/>
            <a:ext cx="10573852" cy="4476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Code, Jupyter Notebook, Git, Python 3.10 venv (</a:t>
            </a:r>
            <a:r>
              <a:rPr lang="en-GB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ChromaDB, Streamlit)</a:t>
            </a:r>
          </a:p>
          <a:p>
            <a:pPr marL="0" indent="0">
              <a:buNone/>
            </a:pPr>
            <a:endParaRPr lang="en-GB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 Data Handling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PyMuPDF/python-docx → 512-token chunks → all-MiniLM-L6-v2 embeddings → ChromaDB persistent store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Model Implementation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→ top-5 chunk retrieval → LLM prompt → output: summary + compliance flag (PRESENT/ABSENT/RISK)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Training Process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query → cosine similarity retrieval → Gemini 1.5 Flash response with source citations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Evaluation Process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CUAD queries: Recall@5 = 0.87, latency = 1.8s avg, compliance accuracy = 83% (human-eval)</a:t>
            </a:r>
          </a:p>
        </p:txBody>
      </p:sp>
    </p:spTree>
    <p:extLst>
      <p:ext uri="{BB962C8B-B14F-4D97-AF65-F5344CB8AC3E}">
        <p14:creationId xmlns:p14="http://schemas.microsoft.com/office/powerpoint/2010/main" val="1315505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0600-E47D-C92D-4BB9-83E16B31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11A6-E007-9144-F6DB-482E22DA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IN" sz="2800" dirty="0"/>
              <a:t>Applications &amp; Future Enhancements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02219-77D0-7B29-C18F-2C9B11A7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CC8B8-05A5-5FFF-E238-556E722323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F297A4-DCC5-15DC-ECF4-049F1434C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2018" y="1816464"/>
            <a:ext cx="900599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Law firm contract portal, corporate compliance dashboard, LegalTech SaaS, MSME compliance checker (Companies Act, IT Act 2000)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Future: Fine-tune on Indian legal corpus; multilingual (Kannada/Hindi); live MCA/SEBI feed; Chrome extension; Graph RAG for cross-document reasoning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61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6E53-2E59-B850-EDD9-AFA7670D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52FC-AA51-70D3-3AE7-09A07654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926" y="136525"/>
            <a:ext cx="7674560" cy="63869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D28F-3F7D-C245-CFFB-D4798DD1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4B192-D808-1A77-C641-60C931CB6F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651B167-0057-7E0F-CFA6-C8830F1BA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3535" y="1906966"/>
            <a:ext cx="10044929" cy="24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end-to-end RAG agent: document ingestion, vector retrieval, LLM compliance analysis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16 alignment — democratises legal intelligence for SMEs and individuals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Learnings: RAG pipeline design, ChromaDB, prompt engineering, LegalTech domain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pipeline, Streamlit UI, evaluation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157022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8639-4633-B279-9199-39F71CE6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B4FB-E7FE-6BB2-BE11-30172AE2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048" y="136525"/>
            <a:ext cx="7780438" cy="638693"/>
          </a:xfrm>
        </p:spPr>
        <p:txBody>
          <a:bodyPr/>
          <a:lstStyle/>
          <a:p>
            <a:r>
              <a:rPr lang="en-IN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References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C2407-772D-EB5B-6420-FBAD47A7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811C1-7535-8E5B-F258-3797B1B675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8AD04E-0E62-26F5-1E3F-C96B68599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7378" y="1394966"/>
            <a:ext cx="1150980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 (IEEE Style)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1800" dirty="0"/>
              <a:t>[1] P. Lewis et al., "Retrieval-Augmented Generation for Knowledge-Intensive NLP Tasks," NeurIPS, 2020.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18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/>
              <a:t>[2] I. Chalkidis et al., "LEGAL-BERT: The Muppets straight out of Law School," EMNLP Findings, 2020. [3] Z. Zhong et al., "JEC-QA: A Legal-Domain Question Answering Dataset," AAAI, 2020. [4] D. Hendrycks et al., "CUAD: An Expert-Annotated NLP Dataset for Legal Contract Review," NeurIPS, 2021. [5] Y. Koreeda and C. Manning, "ContractNLI: A Dataset for Document-level Natural Language Inference for Contracts," EMNLP Findings, 2021.</a:t>
            </a:r>
            <a:endParaRPr lang="en-IN" sz="18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246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492A7-4D47-42AF-9241-46093DB1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412" y="2997643"/>
            <a:ext cx="8551282" cy="63869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174812" y="6347204"/>
            <a:ext cx="2743200" cy="365125"/>
          </a:xfrm>
        </p:spPr>
        <p:txBody>
          <a:bodyPr/>
          <a:lstStyle/>
          <a:p>
            <a:pPr algn="ctr"/>
            <a:r>
              <a:rPr lang="en-IN" dirty="0"/>
              <a:t>June 2025</a:t>
            </a:r>
          </a:p>
        </p:txBody>
      </p:sp>
    </p:spTree>
    <p:extLst>
      <p:ext uri="{BB962C8B-B14F-4D97-AF65-F5344CB8AC3E}">
        <p14:creationId xmlns:p14="http://schemas.microsoft.com/office/powerpoint/2010/main" val="3510518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0600-E47D-C92D-4BB9-83E16B31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11A6-E007-9144-F6DB-482E22DA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IN" sz="2800" dirty="0"/>
              <a:t>Additional Work: Upgraded RAG Architecture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02219-77D0-7B29-C18F-2C9B11A7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CC8B8-05A5-5FFF-E238-556E722323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F297A4-DCC5-15DC-ECF4-049F1434C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2018" y="1816464"/>
            <a:ext cx="900599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retrieval: BM25 keyword search + FAISS dense vectors with weighted score fusion, replacing single-pass ChromaDB top-k; dense/keyword mix tunable live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Stronger embeddings: BGE-small-en-v1.5 with recursive 512-token chunking and 64-token overlap for cleaner clause boundaries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 LLM backends: fully local Llama 3.2 via Ollama (zero cost, offline, private) or OpenAI GPT-4o-mini for higher accuracy; no vendor lock-in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Standalone desktop application (no browser, no server) with structured audit of 10 clauses flagged PRESENT / ABSENT / RISK with explanations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61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0600-E47D-C92D-4BB9-83E16B31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11A6-E007-9144-F6DB-482E22DA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IN" sz="2800" dirty="0"/>
              <a:t>Real-World Validation: Full-Length Court Cases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02219-77D0-7B29-C18F-2C9B11A7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CC8B8-05A5-5FFF-E238-556E722323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F297A4-DCC5-15DC-ECF4-049F1434C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2018" y="1816464"/>
            <a:ext cx="900599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Stress-tested on complete US Supreme Court opinions: Dobbs v. Jackson (213 pages), SFFA v. Harvard (237 pages), Google v. Oracle (62 pages)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518K characters split into 1,267 chunks and indexed in 21 s on CPU (ONNX embedding pipeline, 3x faster); re-opening a document loads from cache in 0.1 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Answers begin streaming in about 5 s on a free local model (Llama 3.2 via Ollama); retrieval itself takes 30 ms; zero API cost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Correctly extracted the fair-use holding (Google v. Oracle) and the admissions ruling (SFFA v. Harvard) with chunk-level source citations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61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0600-E47D-C92D-4BB9-83E16B31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11A6-E007-9144-F6DB-482E22DA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IN" sz="2800" dirty="0"/>
              <a:t>Why It Is Better and Sectors Served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02219-77D0-7B29-C18F-2C9B11A7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CC8B8-05A5-5FFF-E238-556E722323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F297A4-DCC5-15DC-ECF4-049F1434C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2018" y="1816464"/>
            <a:ext cx="900599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Privacy-first: documents never leave the machine (local embeddings + local LLM), unlike cloud AI tools; safe for confidential contracts and case files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 recurring cost and works offline; hybrid search catches exact legal terms (force majeure, indemnification) and paraphrased meaning that pure vector search misses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Convenient and effective: one-click desktop app, any PDF/DOCX/TXT, minutes instead of hours of manual review; every answer cites its source chunks for verifiability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Sectors: law firms and courts, corporate compliance, banking and insurance, MSMEs (Companies Act, IT Act 2000), real estate, HR and employment, legal education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61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0600-E47D-C92D-4BB9-83E16B31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11A6-E007-9144-F6DB-482E22DA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IN" sz="2800" dirty="0"/>
              <a:t>Product Experience: Standalone Desktop App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02219-77D0-7B29-C18F-2C9B11A7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 xml:space="preserve"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CC8B8-05A5-5FFF-E238-556E722323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F297A4-DCC5-15DC-ECF4-049F1434C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2018" y="1816464"/>
            <a:ext cx="900599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One-click standalone desktop app (no browser, no server): built-in page-by-page document preview with live progress for indexing and audits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Streaming answers: responses appear word-by-word within about 5 seconds, each with cited source passages and relevance scores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Retrieval-targeted audit: every clause is searched and judged individually, results appear live and roll into a 0-100 compliance health score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One-click export of a client-ready Word report: summary, key facts, audit table and the full Q&amp;A session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6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3103</TotalTime>
  <Words>846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Calibri</vt:lpstr>
      <vt:lpstr>Calibri Light</vt:lpstr>
      <vt:lpstr>Times New Roman</vt:lpstr>
      <vt:lpstr>Office Theme</vt:lpstr>
      <vt:lpstr>AI-Powered Legal Document Summarizer &amp; Compliance Checker  Course: Artificial Intelligence and Machine Learning  Course code: AI244AI</vt:lpstr>
      <vt:lpstr>Introduction</vt:lpstr>
      <vt:lpstr>Literature Review / Related Work</vt:lpstr>
      <vt:lpstr>Problem Statement</vt:lpstr>
      <vt:lpstr>Methodology / Proposed System</vt:lpstr>
      <vt:lpstr>Implementation Overview</vt:lpstr>
      <vt:lpstr>System Implementation</vt:lpstr>
      <vt:lpstr>Applications &amp; Future Enhancements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Viswavardhan Reddy Karna</dc:creator>
  <cp:lastModifiedBy>Adithya Mahadev</cp:lastModifiedBy>
  <cp:revision>126</cp:revision>
  <dcterms:created xsi:type="dcterms:W3CDTF">2021-06-02T13:10:21Z</dcterms:created>
  <dcterms:modified xsi:type="dcterms:W3CDTF">2026-06-01T02:49:26Z</dcterms:modified>
</cp:coreProperties>
</file>